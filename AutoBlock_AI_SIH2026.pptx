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AA"/>
                </a:solidFill>
              </a:defRPr>
            </a:pPr>
            <a:r>
              <a:t>IDEATHON 2026 | SMART INDIA HACKATHON INTERNAL NOMINATION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RAIL-SYNC: AI-Powered Automatic Block Planning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300"/>
                </a:solidFill>
              </a:defRPr>
            </a:pPr>
            <a:r>
              <a:t>Maximizing Track Availability &amp; Coordinating Multi-Department Railway 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8655" cy="5029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45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</a:defRPr>
            </a:pPr>
            <a:r>
              <a:t>Problem Statement ID: 26027  |  Organization: Ministry of Railways  |  Category: Software  |  Theme: Transportation &amp; Logistics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364992" cy="3931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99923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6B6B"/>
                </a:solidFill>
              </a:defRPr>
            </a:pPr>
            <a:r>
              <a:t>THE OPERATIONAL CHALLENGE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Siloed Departmental Requests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Currently, Track (Engineering), Signal &amp; Telecom (S&amp;T), and Overhead Electrical (TRD) request line blocks independently through BDMS.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Repeated Track Possession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Without joint coordination, the exact same track section is closed 3 separate times in a single week, halting commercial rail traffic.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Severe Knock-On Delays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Manual scheduling creates massive corridor congestion, forcing passenger and freight trains to halt at outer signals for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2514600"/>
            <a:ext cx="3364992" cy="3931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7" y="2697480"/>
            <a:ext cx="299923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0D4AA"/>
                </a:solidFill>
              </a:defRPr>
            </a:pPr>
            <a:r>
              <a:t>TARGET OPERATIONAL OUTCOMES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Single Shared Mega-Blocks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Combine 3 independent departmental closures into 1 unified, simultaneous maintenance window.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+32% Track Availability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Dramatically expand daily commercial traffic capacity for passenger and goods trains.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-45% Outer Signal Delays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Eliminate choke points outside busy stations and junction approaches.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100% Interlocking Safety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Zero human errors, zero signal overlap conflicts, and complete Kavach ATP rule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514600"/>
            <a:ext cx="3364992" cy="3931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2697480"/>
            <a:ext cx="299923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B300"/>
                </a:solidFill>
              </a:defRPr>
            </a:pPr>
            <a:r>
              <a:t>TEAM PROFILE &amp; CORE ROLES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Team Identification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Team Name: [Your Team Name]</a:t>
            </a:r>
            <a:br/>
            <a:r>
              <a:t>Institution: [Your College Name]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Operations &amp; Scheduling Lead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OR modeling, timetable graph matching &amp; conflict resolution.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Rail Domain &amp; Safety Specialist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IRPWM, SEM, ACTM rulebooks &amp; Kavach safety compliance.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Full-Stack &amp; GIS Architect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React, Deck.gl 4D controller map &amp; CRIS API data pipelines.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0D4AA"/>
                </a:solidFill>
              </a:defRPr>
            </a:pPr>
            <a:r>
              <a:t>SLIDE 2: IDEA TITLE &amp; SOLUTION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PROPOSED SOLUTION: Coordinated Multi-Department Mega-Block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30368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7316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0D4AA"/>
                </a:solidFill>
              </a:defRPr>
            </a:pPr>
            <a:r>
              <a:t>THE CORE 3-IN-1 SOLUTION ENGINE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1. Synchronized Multi-Department 'Mega-Blocks'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Instead of halting train traffic 3 separate times, RAIL-SYNC fuses Track repairs (TMS), Signal maintenance (SMMS), and Overhead Wire work (TDMS) into one unified, simultaneous possession window.</a:t>
            </a:r>
          </a:p>
          <a:p>
            <a:br/>
            <a:pPr>
              <a:defRPr sz="1200" b="1">
                <a:solidFill>
                  <a:srgbClr val="FFB300"/>
                </a:solidFill>
              </a:defRPr>
            </a:pPr>
            <a:r>
              <a:t>2. Traffic-Light Urgency Prioritization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• RED (Critical / P0): Severe track fractures &amp; signal failures get mandatory immediate slots.</a:t>
            </a:r>
            <a:br/>
            <a:r>
              <a:t>• YELLOW (Urgent / P1): Scheduled wear &amp; catenary maintenance booked within 72 hours.</a:t>
            </a:r>
            <a:br/>
            <a:r>
              <a:t>• GREEN (Routine / P2): Minor inspections bundled opportunistically with Red/Yellow jobs without extra track closures.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3. Smart Timetable Gap Matching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Algorithms automatically detect natural traffic voids in the Control Office Application (COA) master timetable, positioning repair work precisely between train runs without obstructing premium trains (Vande Bharat, Rajdhani).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30368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7316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FFB300"/>
                </a:solidFill>
              </a:defRPr>
            </a:pPr>
            <a:r>
              <a:t>DISTINCTIVE ADVANTAGES (WHY WE STAND OUT)</a:t>
            </a:r>
          </a:p>
          <a:p>
            <a:br/>
            <a:pPr>
              <a:defRPr sz="1150" b="1">
                <a:solidFill>
                  <a:srgbClr val="00D4AA"/>
                </a:solidFill>
              </a:defRPr>
            </a:pPr>
            <a:r>
              <a:t>• Kavach &amp; Electronic Interlocking Safety Validator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Cross-verifies every block proposal against station Route Control Charts and Kavach RBC radios, preventing accidental route clearances or overlap violations during repair work.</a:t>
            </a:r>
          </a:p>
          <a:p>
            <a:br/>
            <a:pPr>
              <a:defRPr sz="1150" b="1">
                <a:solidFill>
                  <a:srgbClr val="FFFFFF"/>
                </a:solidFill>
              </a:defRPr>
            </a:pPr>
            <a:r>
              <a:t>• Heavy Track Machine Transit Planner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Tracks and schedules transit paths for Tamping Machines, BCM, and Tower Wagons directly from sidings to work zones, preventing equipment deadlock on single-line sections.</a:t>
            </a:r>
          </a:p>
          <a:p>
            <a:br/>
            <a:pPr>
              <a:defRPr sz="1150" b="1">
                <a:solidFill>
                  <a:srgbClr val="FFFFFF"/>
                </a:solidFill>
              </a:defRPr>
            </a:pPr>
            <a:r>
              <a:t>• Pre-Monsoon &amp; Heat Risk Forecasting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Ingests live IMD weather telemetry to forecast track buckling during summer heat peaks and cleans track drainage before monsoons, scheduling proactive maintenance.</a:t>
            </a:r>
          </a:p>
          <a:p>
            <a:br/>
            <a:pPr>
              <a:defRPr sz="1150" b="1">
                <a:solidFill>
                  <a:srgbClr val="FFFFFF"/>
                </a:solidFill>
              </a:defRPr>
            </a:pPr>
            <a:r>
              <a:t>• Dynamic Sub-60s Self-Healing Re-Planner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When an express train runs 20+ minutes late, the system dynamically slides the maintenance window forward instead of cancelling work crews and wasting costly machinery.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0D4AA"/>
                </a:solidFill>
              </a:defRPr>
            </a:pPr>
            <a:r>
              <a:t>SLIDE 3: METHODOLOGY &amp;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TECHNICAL APPROACH: 4-Step Operational Pipeline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542032" cy="1874519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67712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D4AA"/>
                </a:solidFill>
              </a:defRPr>
            </a:pPr>
            <a:r>
              <a:t>STEP 1: UNIFIED INTAKE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Ingests defects &amp; work orders from TMS (Tracks), SMMS (Signals), TDMS (OHE), and schedules from COA/FOIS into a centralized data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34440"/>
            <a:ext cx="2542032" cy="1874519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371600"/>
            <a:ext cx="2267712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STEP 2: SMART SORTING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AI categorizes work urgency objectively (Red / Yellow / Green) based on track safety standards, eliminating inter-departmental conflict.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34440"/>
            <a:ext cx="2542032" cy="1874519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371600"/>
            <a:ext cx="2267712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D4AA"/>
                </a:solidFill>
              </a:defRPr>
            </a:pPr>
            <a:r>
              <a:t>STEP 3: JOINT SCHEDULING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Google OR-Tools CP-SAT engine bundles multi-team tasks into single line possessions inside natural timetable voids between trains.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34440"/>
            <a:ext cx="2542032" cy="1874519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371600"/>
            <a:ext cx="2267712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STEP 4: SAFE DISPATCH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Formal safety check verifies route locking and Kavach rules; issues 1-click digital sanction memos to the Section Controller.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6217920" cy="3246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585216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0D4AA"/>
                </a:solidFill>
              </a:defRPr>
            </a:pPr>
            <a:r>
              <a:t>COMPARATIVE ANALYSIS: OLD MANUAL WAY VS. RAIL-SYNC</a:t>
            </a:r>
          </a:p>
          <a:p>
            <a:br/>
            <a:pPr>
              <a:defRPr sz="1100" b="1">
                <a:solidFill>
                  <a:srgbClr val="FF6B6B"/>
                </a:solidFill>
              </a:defRPr>
            </a:pPr>
            <a:r>
              <a:t>• The Old Manual Practice (Current Baseline):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- Fragmented phone calls and written paper memos across 3 separate control offices.</a:t>
            </a:r>
            <a:br/>
            <a:r>
              <a:t>  - 3 disconnected track shutdowns on the same section within the same week.</a:t>
            </a:r>
            <a:br/>
            <a:r>
              <a:t>  - Chaotic manual rescheduling and total block cancellation when a train runs 15 mins late.</a:t>
            </a:r>
          </a:p>
          <a:p>
            <a:br/>
            <a:pPr>
              <a:defRPr sz="1100" b="1">
                <a:solidFill>
                  <a:srgbClr val="00D4AA"/>
                </a:solidFill>
              </a:defRPr>
            </a:pPr>
            <a:r>
              <a:t>• The RAIL-SYNC Way (Automated Innovation):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- 3 departments work simultaneously under 1 pre-coordinated corridor possession.</a:t>
            </a:r>
            <a:br/>
            <a:r>
              <a:t>  - Maintenance lands naturally inside existing timetable gaps without stopping express trains.</a:t>
            </a:r>
            <a:br/>
            <a:r>
              <a:t>  - Self-healing re-planner automatically shifts windows in under 60 seconds if trains delay.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246120"/>
            <a:ext cx="4327855" cy="3246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429000"/>
            <a:ext cx="3962095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B300"/>
                </a:solidFill>
              </a:defRPr>
            </a:pPr>
            <a:r>
              <a:t>ENTERPRISE TECHNOLOGY STACK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Optimization Engine: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Google OR-Tools (CP-SAT Constraint Solver for multi-resource scheduling)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Backend Services: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Python FastAPI (High-performance, async REST &amp; WebSocket microservices)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Spatial Database: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PostgreSQL + PostGIS (Railway network topology, tracks &amp; assets)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Interlocking Verifier: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SMT Logic Prover (Route Control Chart &amp; overlap safety validation)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Controller Cockpit: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React 18 + Deck.gl (4D WebGPU GIS Map) &amp; D3.js Multi-Line Gantt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0D4AA"/>
                </a:solidFill>
              </a:defRPr>
            </a:pPr>
            <a:r>
              <a:t>SLIDE 4: RISK MITIGATION &amp; REAL-WORLD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FEASIBILITY &amp; VIABILITY: Practical Adoption on Indian Railways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64992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99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ZERO NEW HARDWARE REQUIRED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Cloud Microservice Deployment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Runs 100% as a secure software microservice hosted on Indian Railways' existing CRIS enterprise cloud infrastructure.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Non-Invasive API Integration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Pulls live data directly from TMS, SMMS, TDMS, and COA via standard read APIs without modifying legacy database schemas.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Zero Trackside Sensors Needed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Operates entirely on existing track circuits, electronic interlocking tables, and axle counter telemetry. Zero added Capex.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7" y="1280160"/>
            <a:ext cx="3364992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7" y="1463040"/>
            <a:ext cx="2999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B300"/>
                </a:solidFill>
              </a:defRPr>
            </a:pPr>
            <a:r>
              <a:t>BUILT FOR REAL FIELD CONTROLLERS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Human-in-the-Loop Authority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Section Controllers retain absolute final decision power; automated plans require a single digital review and confirmation click.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Instant Digital Sanction Memos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Replaces error-prone verbal phone calls and handwritten paper memos with standardized, cryptographically logged digital authority.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Seamless Phased Rollout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Engineered to pilot immediately on a high-density trunk corridor (e.g., Delhi-Kanpur or Mumbai-Vadodara) before national scaling.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280160"/>
            <a:ext cx="3364992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463040"/>
            <a:ext cx="2999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6B6B"/>
                </a:solidFill>
              </a:defRPr>
            </a:pPr>
            <a:r>
              <a:t>REAL-WORLD RISKS MITIGATED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Challenge: Train Late Running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Mitigation: Sub-60-second heuristic shifts the maintenance slot dynamically, preserving track crew preparation and machine runs.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Challenge: Offline Network Dropouts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Mitigation: Edge-cached local architecture guarantees uninterrupted station console operation even during network blackouts.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Challenge: Departmental Skepticism</a:t>
            </a:r>
          </a:p>
          <a:p>
            <a:pPr>
              <a:defRPr sz="1000">
                <a:solidFill>
                  <a:srgbClr val="CCD6F6"/>
                </a:solidFill>
              </a:defRPr>
            </a:pPr>
            <a:r>
              <a:t>  Mitigation: Mathematical, safety-first scoring ensures transparent, auditable scheduling free from departmental favoritism.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0D4AA"/>
                </a:solidFill>
              </a:defRPr>
            </a:pPr>
            <a:r>
              <a:t>SLIDE 5: METRICS &amp; 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QUANTIFIABLE IMPACT &amp; STRATEGIC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542032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6771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+32%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TRACK AVAILABILITY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Halves total network shutdown instances by consolidating multi-department repairs into unified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34440"/>
            <a:ext cx="2542032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371600"/>
            <a:ext cx="226771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-45%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OUTER SIGNAL DELAYS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Eliminates train congestion and prolonged idling outside stations awaiting block clearance.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34440"/>
            <a:ext cx="2542032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371600"/>
            <a:ext cx="226771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85%+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BLOCK COMPLETION RATE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Drastically cuts last-minute block cancellations triggered by conflicting passenger train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34440"/>
            <a:ext cx="2542032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371600"/>
            <a:ext cx="226771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12,000 L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MONTHLY DIESEL SAVED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Eliminates fuel-wasting stop-and-start cycles for heavy 58-wagon freight rakes per division.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3364992" cy="3154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47872"/>
            <a:ext cx="2999232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FOR TRAIN CONTROLLERS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Automated Coordination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Saves 3 to 4 hours of hectic phone calls between Track, Signal, and Traction supervisors every single shift.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Algorithmic Conflict Resolution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Replaces trial-and-error manual conflict hunting with mathematically verified, conflict-free recommendations.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Auditable Sanction History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Maintains complete transparent digital audit trails for every block granted, extended, or cancelled.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3383280"/>
            <a:ext cx="3364992" cy="3154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7" y="3547872"/>
            <a:ext cx="2999232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B300"/>
                </a:solidFill>
              </a:defRPr>
            </a:pPr>
            <a:r>
              <a:t>FOR MAINTENANCE CREWS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Guaranteed Work Windows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Crews receive protected, predictable corridor possessions with track machines and tower wagons on site on time.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Eliminated Idle Waiting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Drastically cuts field workforce standing time and prevents cancelled turnout permissions.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Multi-Tier Safety Protection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Verified catenary isolation interlocks ensure zero electrocution or moving vehicle collision hazards.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3383280"/>
            <a:ext cx="3364992" cy="3154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3547872"/>
            <a:ext cx="2999232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FOR RAILWAYS &amp; NATION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Maximized Sectional Throughput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Unlocks hidden railway capacity across golden quadrilateral corridors without capital investments in laying new tracks.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Punctual Passenger Journeys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Protects express and suburban train punctuality while accelerating average freight train speeds.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Sustainability &amp; Net-Zero 2030</a:t>
            </a:r>
          </a:p>
          <a:p>
            <a:pPr>
              <a:defRPr sz="950">
                <a:solidFill>
                  <a:srgbClr val="CCD6F6"/>
                </a:solidFill>
              </a:defRPr>
            </a:pPr>
            <a:r>
              <a:t>  Substantial reduction in locomotive carbon emissions directly supports Indian Railways' Net-Zero 2030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0D4AA"/>
                </a:solidFill>
              </a:defRPr>
            </a:pPr>
            <a:r>
              <a:t>SLIDE 6: VERIFICATION FRAMEWORK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RESEARCH &amp; REGULATORY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30368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7316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D4AA"/>
                </a:solidFill>
              </a:defRPr>
            </a:pPr>
            <a:r>
              <a:t>OFFICIAL RAILWAY MANUALS &amp; SAFETY RULEBOOKS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Indian Railways Permanent Way Manual (IRPWM - 2020)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Para 801-815: Integrated corridor maintenance protocols, machine tamping cycles, ultrasonic rail flaw classification, and track possession guidelines.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Signal Engineering Manual (SEM Part I &amp; II)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Para 11.4: Strict electronic interlocking (EI) logic, signal clearance buffers, route overlap locking, and formal disconnection/reconnection procedures.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AC Traction Manual (ACTM Vol II)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Appendix IV: Catenary isolation protocols, power cut-off interlocks, safety earthing rules, and simultaneous tower wagon/ladder gang operation.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Kavach Functional Specifications (RDSO SPN/196/2020)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Section 6: Radio Block Center (RBC) message formats, ATP dynamic braking curves, station approach clearance, and temporary speed restriction (TSR)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30368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7316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B300"/>
                </a:solidFill>
              </a:defRPr>
            </a:pPr>
            <a:r>
              <a:t>PROVEN INDUSTRY METHODS &amp; TECHNOLOGIES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Google OR-Tools (CP-SAT Solver)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Industry-standard constraint programming engine used globally by high-speed rail operators and major airlines for solving multi-resource scheduling problems in seconds.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Spatio-Temporal Railway Networks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Peer-reviewed graph-based topological data models accurately representing physical track blocks, station sidings, and moving train trajectory envelopes over time.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Train Kinematics &amp; Davis Resistance Equations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Standard ASME/IEEE mechanical formulations calculating train tractive effort, deceleration momentum, and diesel fuel saved by preventing freight stoppages.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SMT Logic Verification (Z3 Prover)</a:t>
            </a:r>
          </a:p>
          <a:p>
            <a:pPr>
              <a:defRPr sz="980">
                <a:solidFill>
                  <a:srgbClr val="CCD6F6"/>
                </a:solidFill>
              </a:defRPr>
            </a:pPr>
            <a:r>
              <a:t>  Automated formal verification routines mathematically proving that proposed maintenance disconnections never violate station Route Control Charts or cause route overlap collisions.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